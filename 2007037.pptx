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33"/>
  </p:notesMasterIdLst>
  <p:handoutMasterIdLst>
    <p:handoutMasterId r:id="rId34"/>
  </p:handoutMasterIdLst>
  <p:sldIdLst>
    <p:sldId id="256" r:id="rId5"/>
    <p:sldId id="332" r:id="rId6"/>
    <p:sldId id="365" r:id="rId7"/>
    <p:sldId id="362" r:id="rId8"/>
    <p:sldId id="264" r:id="rId9"/>
    <p:sldId id="356" r:id="rId10"/>
    <p:sldId id="367" r:id="rId11"/>
    <p:sldId id="385" r:id="rId12"/>
    <p:sldId id="372" r:id="rId13"/>
    <p:sldId id="373" r:id="rId14"/>
    <p:sldId id="352" r:id="rId15"/>
    <p:sldId id="374" r:id="rId16"/>
    <p:sldId id="375" r:id="rId17"/>
    <p:sldId id="376" r:id="rId18"/>
    <p:sldId id="383" r:id="rId19"/>
    <p:sldId id="384" r:id="rId20"/>
    <p:sldId id="350" r:id="rId21"/>
    <p:sldId id="359" r:id="rId22"/>
    <p:sldId id="379" r:id="rId23"/>
    <p:sldId id="377" r:id="rId24"/>
    <p:sldId id="378" r:id="rId25"/>
    <p:sldId id="380" r:id="rId26"/>
    <p:sldId id="381" r:id="rId27"/>
    <p:sldId id="386" r:id="rId28"/>
    <p:sldId id="382" r:id="rId29"/>
    <p:sldId id="369" r:id="rId30"/>
    <p:sldId id="364" r:id="rId31"/>
    <p:sldId id="34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C4D825A-12A2-4E7E-9B4B-789B35CFFFE1}">
          <p14:sldIdLst>
            <p14:sldId id="256"/>
            <p14:sldId id="332"/>
            <p14:sldId id="365"/>
            <p14:sldId id="362"/>
            <p14:sldId id="264"/>
            <p14:sldId id="356"/>
            <p14:sldId id="367"/>
            <p14:sldId id="385"/>
            <p14:sldId id="372"/>
            <p14:sldId id="373"/>
            <p14:sldId id="352"/>
            <p14:sldId id="374"/>
            <p14:sldId id="375"/>
            <p14:sldId id="376"/>
            <p14:sldId id="383"/>
            <p14:sldId id="384"/>
            <p14:sldId id="350"/>
            <p14:sldId id="359"/>
            <p14:sldId id="379"/>
            <p14:sldId id="377"/>
            <p14:sldId id="378"/>
            <p14:sldId id="380"/>
            <p14:sldId id="381"/>
            <p14:sldId id="386"/>
            <p14:sldId id="382"/>
            <p14:sldId id="369"/>
            <p14:sldId id="364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D0FD"/>
    <a:srgbClr val="91E3FD"/>
    <a:srgbClr val="C7A1E3"/>
    <a:srgbClr val="B482DA"/>
    <a:srgbClr val="F8D5FB"/>
    <a:srgbClr val="465359"/>
    <a:srgbClr val="E3AFDF"/>
    <a:srgbClr val="54EAEA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3455" autoAdjust="0"/>
  </p:normalViewPr>
  <p:slideViewPr>
    <p:cSldViewPr snapToGrid="0" showGuides="1">
      <p:cViewPr varScale="1">
        <p:scale>
          <a:sx n="66" d="100"/>
          <a:sy n="66" d="100"/>
        </p:scale>
        <p:origin x="1152" y="53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00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566C-659C-4313-C693-5E17405E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C7A7C-4E90-2FC6-A346-35957D861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89A81-E899-DC42-1A81-F824A7E8E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D942A-0E59-1BC3-E955-B001CCE7E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967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58E4D-50A1-27B3-D7A0-F75BFFA0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612A1-6DB0-86E3-7EBE-20C9EEAF6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73051-2582-D1C6-E1E4-13E5C2C17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83C15-6FDD-70B8-82B9-40F72EEB7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036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38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24E7A-F2D2-D847-8794-8B02B6A0C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09F73-2023-0AE6-5E36-11AD32B6C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BE22D-87D9-BA6A-0882-111E543CA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9D382-55EA-A24E-D555-3425FE19C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01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DD0A-A760-F3C6-A269-D915D6B4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0DC217-09DF-D060-4A91-91177F350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B520D-A25F-267B-921B-D62E29D4F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B4DAD-C8DA-1919-A94C-75ECC341E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285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12D9-01B4-03CF-9AE3-4B006ED0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68A35-C817-A23F-6F53-1C7819AC9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3E8AE-D7E4-21F4-95E7-72BCBBF88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B0318-5ED7-30DB-62BD-92E284066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23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F0CE-6E33-AF7D-005C-EEB7A45E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5601C-E7EE-2D76-C321-6F7A58162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59D45-AF5C-D4E4-28FB-1C0FC13A8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831CC-C6FA-E471-3D72-E5C7E647F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06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A23E0-3B48-C4AE-A868-FA871024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5BC76-84C1-E569-22F5-C06F09AF1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9D0E3-D0BA-F2B1-FE2B-647D0B882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7B78F-FF30-A926-58C5-17411AA68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507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95FB-3627-8FBF-FF4B-EB076329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FC620-AFD8-E13A-E07A-78BA19930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B85F3-45BA-2BDD-3B4E-9E733D385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85925-C01E-9DCF-8AA3-024A72072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801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43BD9-AAF0-EEEA-6E08-E2AC268A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524A3-BEF6-29A9-C580-62A7EB894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3BBFA-CAEC-39FB-4D8C-F2A74E9EF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4F23F-3253-E3F2-D92D-71CF4ACB2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213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56F1-D52B-45FC-D76C-CF2B7A25D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46054-AE8D-6A7D-54FA-82A5D4183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4F8F9-F7F5-DF4B-FCC5-C951F04BA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97602-B0A0-CB5F-50B1-CBF4A28A8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018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81489-07B3-E6FA-4347-D29FC1F9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FBD9D-FD02-713A-DBF6-3D93A27CD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85EEE-2B06-9B90-A6E9-BB205B3C2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910B5-8B7B-E0EB-05AB-4A47A7E90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447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75607-6894-B5DE-937F-4A30FC076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36F99-3EE0-371E-4AE3-2975DDE39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D67D4-BDFD-F582-6D06-321D9D8D3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963D4-84E0-0349-23B9-9C5ED34CB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52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9782F-6255-602E-8765-CE593418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8E135-272D-526A-B14B-3E76081EB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A13A8-B4B8-8F7C-8B82-C6E0C0365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41F22-1E7E-C38D-8252-7893F843B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46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94EB-A152-F49B-56E6-5E0980EED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5D776-5841-B692-B1EE-66DE03EA0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EC5D6-601B-6E43-7197-85361385F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4D720-58E3-3C4B-E8EE-26D08A2C8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393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4475-6FFE-A34B-64D6-C854DC3A9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8EA44-AAFA-DCC0-A150-2AD127A09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364D7-16F8-2E85-4201-8B33A1438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72A31-7493-A87E-7459-86CA08249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384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C13FF-33F4-DF4A-C0E6-A48A33D8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2DC5E-A0AB-3DA6-BED7-020CBB301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3B68E-DAE8-35B0-9C76-987886988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62816-10B2-D8FE-E7EF-8321B8D0C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064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7C12-BF19-698E-391F-D99BE699A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09B46E-635D-6945-F782-40DC6F044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7C51F-8941-C70A-1A05-5B20D311F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3A6BB-DCF8-0597-9E19-747F30AE4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900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96512-FD6F-C477-9D77-9E7C068A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25617-C88F-1C49-ED51-8A116344A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9877A-BBCA-226F-A94A-854DA3900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0FDE6-6D75-ABCE-C672-3C0C253F5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35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C583A-02B4-6770-8200-B41E4639C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55FE6-9F0F-6093-5190-BABD90823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859D9-DAB0-4840-914D-7DC0DFE2C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F3F2-0B70-FD20-E3E0-B46F22370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455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F6C3D-CF1E-1D7D-F9B0-E59BDBEE3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B2D8E-B50E-867F-F590-806B74CD4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5EAB9-0C5F-BEDC-A690-41134628D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05F24-9F21-7D1F-3B3B-5199833D0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7958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64F7-2EA1-3DD8-3279-D13AC6E46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34DFF-6B3E-433D-7C69-7D5CC5E42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BA396-F9C9-8AE0-353E-A661038F7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1A399-15D5-7E2F-21A8-606B7F7B6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8529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43DF-E172-AAD1-CC8F-D0819C78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737B9-1E12-1218-3F63-C4D37827D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A3EAC-32AD-B991-9751-96D56EEE0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88D2A-1296-D5A0-4F64-23F530DEF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367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59167-195C-B2F8-941D-9D9044A9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EA393-FB94-5115-8D8B-617F9CD85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C1A5A-7CD0-8DB4-D773-51B0CC580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756E6-6E78-4CDC-6252-A03091C7A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3289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E4B7-3DBA-FAC1-4E92-203C3AFD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6AAB4-875A-2F1A-86ED-0DB285B1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F63B2-8E6A-E24D-DB42-0CEF2A755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7FF33-D994-0FAE-0C66-FFB446652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019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334A2-8D0E-3642-997E-E92ED0FD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72C19-F579-6A04-103E-A7CCD7A4F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85B5A-C21E-C93D-7842-19A558BAD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3DA56-C78D-C18D-9E77-F860646EA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251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86E7-7F48-4100-98BE-B1471C707C4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9F90-AE00-4DF1-A10E-48F4B9622A7A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B32C-E511-4415-BD04-D36C9BBB42F0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243A-1F06-4450-978C-028D9D5316FC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932A-8CB6-4E56-A87D-0ABCD719308A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D45F-F13F-4E6A-B795-6D75947CF44D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8855-16A3-4ECD-9547-80862FBB5B51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4C4BC5C4-ACFF-4762-B7EB-34BCE6B1CCF2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0295-E209-4219-BE5B-E0FC11CB0F4A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CF38-0F1E-491B-99F9-1716DF8CA581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CF84-7013-42FD-9F5A-12254A4388E9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7C57-4A20-4E2E-A2A2-A4E3845DBFA9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E991F98-C793-450B-8EEC-6E137B8B094C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CSE 41220: Technical Writing &amp; Seminar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7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ate Placeholder 1">
            <a:extLst>
              <a:ext uri="{FF2B5EF4-FFF2-40B4-BE49-F238E27FC236}">
                <a16:creationId xmlns:a16="http://schemas.microsoft.com/office/drawing/2014/main" id="{03E259C5-29D2-BDB8-6FAE-EAA4F7B8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7135-329F-4148-8674-CA8E4845D713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80B3CD65-B137-01C4-6FC2-25CDF992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6AA4E4F-1367-A207-B46F-51FBD341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4E8C6A53-0CEA-EDD4-3D5C-A891489D72F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320096" y="725488"/>
            <a:ext cx="9291960" cy="4905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CSE 4128: Image Processing and Computer Vision Laboratory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D9878-9866-6D7F-E230-EF246B2CE769}"/>
              </a:ext>
            </a:extLst>
          </p:cNvPr>
          <p:cNvSpPr txBox="1"/>
          <p:nvPr/>
        </p:nvSpPr>
        <p:spPr>
          <a:xfrm>
            <a:off x="844952" y="2860960"/>
            <a:ext cx="5352747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Supervised By: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Dr. Sk. Md.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Masudul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Ahsan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Professor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Khulna University of Engineering &amp; Technology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Md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Tajmilur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Rahman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Khulna University of Engineering &amp; Technology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AD46E-C547-D918-4301-4EF47005B874}"/>
              </a:ext>
            </a:extLst>
          </p:cNvPr>
          <p:cNvSpPr txBox="1"/>
          <p:nvPr/>
        </p:nvSpPr>
        <p:spPr>
          <a:xfrm>
            <a:off x="7000158" y="3146135"/>
            <a:ext cx="192071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Prova Paul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Roll: 2007037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Year: Fourth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Semester: First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76B95-1E2C-8863-7C00-E29A71FB7BAD}"/>
              </a:ext>
            </a:extLst>
          </p:cNvPr>
          <p:cNvSpPr txBox="1"/>
          <p:nvPr/>
        </p:nvSpPr>
        <p:spPr>
          <a:xfrm>
            <a:off x="876268" y="1329793"/>
            <a:ext cx="107345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SkyVision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Automated Sky Condition Analysis System</a:t>
            </a:r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581192" y="697593"/>
            <a:ext cx="5625296" cy="669908"/>
          </a:xfrm>
          <a:prstGeom prst="rect">
            <a:avLst/>
          </a:prstGeom>
        </p:spPr>
        <p:txBody>
          <a:bodyPr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Contents of Presentation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27FC67-3667-0452-22FA-A7DBAFFA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CF11-6BE4-409F-AC1B-A657970C673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15557-7ADD-CDA9-1349-0761E8F5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A11FA-4CCF-5056-11F1-63C84B9C8B5F}"/>
              </a:ext>
            </a:extLst>
          </p:cNvPr>
          <p:cNvSpPr txBox="1"/>
          <p:nvPr/>
        </p:nvSpPr>
        <p:spPr>
          <a:xfrm>
            <a:off x="1111170" y="1458410"/>
            <a:ext cx="4043928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Tools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Snapshots/Videos from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  <a:p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8F68670-A1BA-5CD9-C173-C1D77A4F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61079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8781C-F3DE-3767-1745-173F42A5A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1584A9B1-C7BE-21D0-BD9D-BC89A98DAD13}"/>
              </a:ext>
            </a:extLst>
          </p:cNvPr>
          <p:cNvSpPr>
            <a:spLocks/>
          </p:cNvSpPr>
          <p:nvPr/>
        </p:nvSpPr>
        <p:spPr>
          <a:xfrm>
            <a:off x="717627" y="720742"/>
            <a:ext cx="2803869" cy="669908"/>
          </a:xfrm>
          <a:prstGeom prst="rect">
            <a:avLst/>
          </a:prstGeom>
        </p:spPr>
        <p:txBody>
          <a:bodyPr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1FF74-F13B-F736-AB64-431825D5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CF11-6BE4-409F-AC1B-A657970C673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DD1D8-BCC8-E9BD-3591-4D3A49884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6BAB1-FDE2-1C17-FAC0-79F25C736104}"/>
              </a:ext>
            </a:extLst>
          </p:cNvPr>
          <p:cNvSpPr txBox="1"/>
          <p:nvPr/>
        </p:nvSpPr>
        <p:spPr>
          <a:xfrm>
            <a:off x="1157467" y="1390650"/>
            <a:ext cx="972273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 an automated sky condition detection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Classify sky types (clear, cloudy, partly cloudy, sunset).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Estimate cloud coverage percentage.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Implement comprehensive image processing pipeline.</a:t>
            </a:r>
          </a:p>
          <a:p>
            <a:endParaRPr lang="en-US" sz="28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BFA1E33-274E-7B88-6547-20F23ACA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13783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B2148-B08A-8E8A-1C82-45249065E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9DFBFE4B-0956-7EE0-0FF0-1286EC3C55B5}"/>
              </a:ext>
            </a:extLst>
          </p:cNvPr>
          <p:cNvSpPr>
            <a:spLocks/>
          </p:cNvSpPr>
          <p:nvPr/>
        </p:nvSpPr>
        <p:spPr>
          <a:xfrm>
            <a:off x="601884" y="674443"/>
            <a:ext cx="3371026" cy="669908"/>
          </a:xfrm>
          <a:prstGeom prst="rect">
            <a:avLst/>
          </a:prstGeom>
        </p:spPr>
        <p:txBody>
          <a:bodyPr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8D609-3EFB-9610-C03A-D17B5C8A3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CF11-6BE4-409F-AC1B-A657970C673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99A8E-9219-CB5E-37B2-0EC06888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D743160-CF60-5194-A70A-4F372BBF9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676" y="1344351"/>
            <a:ext cx="5671595" cy="290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Manual sky analysis is time-consuming 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sky detection using computer vision.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Weather monitoring, photography, environmental studies.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Real-time image analysis with detailed reporting.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025757-22D7-7DDB-E897-4B932475C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16" y="1009397"/>
            <a:ext cx="5671595" cy="45466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A56FE3-4E77-B85E-006A-8913FE483BDF}"/>
              </a:ext>
            </a:extLst>
          </p:cNvPr>
          <p:cNvSpPr txBox="1"/>
          <p:nvPr/>
        </p:nvSpPr>
        <p:spPr>
          <a:xfrm>
            <a:off x="6049960" y="5737142"/>
            <a:ext cx="5764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Figure 1: Different condition of sky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clear,partly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cloudy,cloudy,overcast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D023D6E-7304-3391-746E-505D70B5F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4216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F6DBBBF3-A39D-05A4-6C00-C70FDBC8A4AF}"/>
              </a:ext>
            </a:extLst>
          </p:cNvPr>
          <p:cNvSpPr>
            <a:spLocks/>
          </p:cNvSpPr>
          <p:nvPr/>
        </p:nvSpPr>
        <p:spPr>
          <a:xfrm>
            <a:off x="748676" y="688078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Tools Used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50CDA-89BD-E534-4F62-94D88BA1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1F969-4826-4E51-1248-44A76674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76E7D8F-DE90-B174-9BF5-2A287F7FA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581" y="1390014"/>
            <a:ext cx="9714838" cy="424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&amp; Libraries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 3.x - Core programming language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OpenCV - Computer vision library for image operations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NumPy - Numerical computing for array operations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PIL/Pillow - Image loading and processing</a:t>
            </a:r>
          </a:p>
          <a:p>
            <a:pPr>
              <a:lnSpc>
                <a:spcPct val="150000"/>
              </a:lnSpc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 &amp; Interface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GUI framework for user interface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Tools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VS Code/PyCharm - IDE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- Version control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746A95C-A526-E550-072A-8276BEED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47079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20EF7-BD06-8E94-96BF-2A8D5FDB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271EDAA0-551A-3073-E1E9-5C4805E072E0}"/>
              </a:ext>
            </a:extLst>
          </p:cNvPr>
          <p:cNvSpPr>
            <a:spLocks/>
          </p:cNvSpPr>
          <p:nvPr/>
        </p:nvSpPr>
        <p:spPr>
          <a:xfrm>
            <a:off x="748676" y="688078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3415A-E9FF-FAE1-42EC-F87302275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80A4A-A3F6-DF21-0A28-E4714A7D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328DAD-AF1A-43E0-43FB-80BA9CA9631A}"/>
              </a:ext>
            </a:extLst>
          </p:cNvPr>
          <p:cNvSpPr txBox="1"/>
          <p:nvPr/>
        </p:nvSpPr>
        <p:spPr>
          <a:xfrm>
            <a:off x="752930" y="1545749"/>
            <a:ext cx="640022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Step 1: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Image Acquisition &amp; Loading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Load input images and convert to RGB color space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Step 2: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Preprocessing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Apply shadow removal and contrast stretching for enhanced quality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Step 3: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Sky Region Detection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HSV color space analysis with morphological operations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Step 4: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Feature Extraction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Calculate blue ratio, brightness, saturation, cloud coverage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Step 5: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Classification &amp; Analysis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Classify sky condition with confidence scoring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3DADE9D-E276-67B6-78FB-32A028F45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72FC7A6-44CE-9A47-5383-69E7B98D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951" y="688078"/>
            <a:ext cx="3525881" cy="533303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8007CC4-20E9-A42F-FA32-E7D94CC7EE51}"/>
              </a:ext>
            </a:extLst>
          </p:cNvPr>
          <p:cNvSpPr txBox="1"/>
          <p:nvPr/>
        </p:nvSpPr>
        <p:spPr>
          <a:xfrm>
            <a:off x="7605951" y="6068625"/>
            <a:ext cx="4992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Flowchart 1: Steps of Sky Detection Process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80EAE9-DDA4-9570-9AB3-9D53E557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18377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B8CF2-72AD-28C4-40BD-904F64B8D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86F81E40-1ABF-25B0-56D4-511E0A037667}"/>
              </a:ext>
            </a:extLst>
          </p:cNvPr>
          <p:cNvSpPr>
            <a:spLocks/>
          </p:cNvSpPr>
          <p:nvPr/>
        </p:nvSpPr>
        <p:spPr>
          <a:xfrm>
            <a:off x="748676" y="688078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86C08-16B4-0873-9DC8-3A6B2558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62F35-ED9D-05C7-3AD2-EB777305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2F4A0EC-CE64-056D-3BB4-4A9ED052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4" descr="Output image">
            <a:extLst>
              <a:ext uri="{FF2B5EF4-FFF2-40B4-BE49-F238E27FC236}">
                <a16:creationId xmlns:a16="http://schemas.microsoft.com/office/drawing/2014/main" id="{18A1811D-3497-13E0-D09C-85E4AFAC6E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A99026-350E-CE0A-9913-BB88164B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4660C2-F96B-2DE9-6FD5-51A98F8ED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199" y="1390205"/>
            <a:ext cx="9124551" cy="4382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088134-3B58-559C-6DF0-3EFCBBFF7F46}"/>
              </a:ext>
            </a:extLst>
          </p:cNvPr>
          <p:cNvSpPr txBox="1"/>
          <p:nvPr/>
        </p:nvSpPr>
        <p:spPr>
          <a:xfrm>
            <a:off x="4434442" y="5962580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8445523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BCD4B-7EC7-B0B5-F06A-B734929E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23A24C62-7823-9C1C-4B1B-DCA6A84DB2C3}"/>
              </a:ext>
            </a:extLst>
          </p:cNvPr>
          <p:cNvSpPr>
            <a:spLocks/>
          </p:cNvSpPr>
          <p:nvPr/>
        </p:nvSpPr>
        <p:spPr>
          <a:xfrm>
            <a:off x="748676" y="688078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AF412-ADB1-8A7C-7CEA-240975BA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EA2A8-C023-5168-7B2D-D030033F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C3BEB5A-DC30-32BA-AD21-7A5C279B8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4" descr="Output image">
            <a:extLst>
              <a:ext uri="{FF2B5EF4-FFF2-40B4-BE49-F238E27FC236}">
                <a16:creationId xmlns:a16="http://schemas.microsoft.com/office/drawing/2014/main" id="{9076D06B-EE1C-C4B0-ACDE-F83B329FD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F1A191-CCBA-E00C-CA72-84BC60D6D1DE}"/>
              </a:ext>
            </a:extLst>
          </p:cNvPr>
          <p:cNvSpPr txBox="1"/>
          <p:nvPr/>
        </p:nvSpPr>
        <p:spPr>
          <a:xfrm>
            <a:off x="1215342" y="1490007"/>
            <a:ext cx="6673622" cy="38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Classes: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SkyDetector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Sky detection and classification engine.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ImageProcessor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Handles overlays and visualizations.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ImageProcessingApp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GUI application controller.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Features:</a:t>
            </a:r>
            <a:endParaRPr lang="en-US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Multi-stage sky detection with 7 HSV ranges.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Weighted scoring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Real-time dashboard with 5 metrics.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Preprocessing toggle 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Export functionality.</a:t>
            </a:r>
          </a:p>
          <a:p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CADF8CA-7AF1-5623-AE91-E4D5CA7CE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87525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7D79-B86D-2B11-7906-04FFED70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C07FB853-8D31-5A03-5CB2-15B55953ED46}"/>
              </a:ext>
            </a:extLst>
          </p:cNvPr>
          <p:cNvSpPr>
            <a:spLocks/>
          </p:cNvSpPr>
          <p:nvPr/>
        </p:nvSpPr>
        <p:spPr>
          <a:xfrm>
            <a:off x="748676" y="688078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Implementation </a:t>
            </a:r>
            <a:r>
              <a:rPr lang="en-US" sz="3200" b="1" dirty="0" err="1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Contd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…(Segmentation)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08DC9-66E6-99AD-6199-57E373BD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0A5EE-0779-F3FE-2C15-457DD211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20BB81AC-3F0C-939D-0EDA-D8DF13253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4" descr="Output image">
            <a:extLst>
              <a:ext uri="{FF2B5EF4-FFF2-40B4-BE49-F238E27FC236}">
                <a16:creationId xmlns:a16="http://schemas.microsoft.com/office/drawing/2014/main" id="{962359D1-E045-1956-4076-9C204B268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B92BA0-0D09-B1CE-7055-7A56BA9D83D7}"/>
              </a:ext>
            </a:extLst>
          </p:cNvPr>
          <p:cNvSpPr/>
          <p:nvPr/>
        </p:nvSpPr>
        <p:spPr>
          <a:xfrm>
            <a:off x="3108960" y="1400729"/>
            <a:ext cx="7010400" cy="46580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Convert RGB to HSV.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9428DB-5A95-1128-1A21-4636F4C6435B}"/>
              </a:ext>
            </a:extLst>
          </p:cNvPr>
          <p:cNvSpPr/>
          <p:nvPr/>
        </p:nvSpPr>
        <p:spPr>
          <a:xfrm>
            <a:off x="3108960" y="2012819"/>
            <a:ext cx="7010400" cy="596353"/>
          </a:xfrm>
          <a:prstGeom prst="rect">
            <a:avLst/>
          </a:prstGeom>
          <a:solidFill>
            <a:srgbClr val="B482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Apply 7 color range masks.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CB1D84-A963-4851-F2D5-AC5863AEFCA0}"/>
              </a:ext>
            </a:extLst>
          </p:cNvPr>
          <p:cNvSpPr/>
          <p:nvPr/>
        </p:nvSpPr>
        <p:spPr>
          <a:xfrm>
            <a:off x="3124200" y="2777677"/>
            <a:ext cx="7010400" cy="53223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Combine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masks with OR operation.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AF969B-65A9-F46A-9114-D0FDC3996B97}"/>
              </a:ext>
            </a:extLst>
          </p:cNvPr>
          <p:cNvSpPr/>
          <p:nvPr/>
        </p:nvSpPr>
        <p:spPr>
          <a:xfrm>
            <a:off x="3108960" y="3489155"/>
            <a:ext cx="7010400" cy="5912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Morphological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refinement.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6C9FF4-DC1C-6755-98A9-F03944A38D05}"/>
              </a:ext>
            </a:extLst>
          </p:cNvPr>
          <p:cNvSpPr/>
          <p:nvPr/>
        </p:nvSpPr>
        <p:spPr>
          <a:xfrm>
            <a:off x="3108960" y="4207706"/>
            <a:ext cx="7010400" cy="54166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Extract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largest component.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2C1F38-43E8-8CA6-30F3-2FC31985BECC}"/>
              </a:ext>
            </a:extLst>
          </p:cNvPr>
          <p:cNvSpPr/>
          <p:nvPr/>
        </p:nvSpPr>
        <p:spPr>
          <a:xfrm>
            <a:off x="3108960" y="4876726"/>
            <a:ext cx="7010400" cy="54525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Calculate sky coverage percentage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AFED16F-13A3-6126-3D65-C3604F4D8CAF}"/>
              </a:ext>
            </a:extLst>
          </p:cNvPr>
          <p:cNvSpPr/>
          <p:nvPr/>
        </p:nvSpPr>
        <p:spPr>
          <a:xfrm>
            <a:off x="6591300" y="3340802"/>
            <a:ext cx="53340" cy="45719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13E0E4A-7B53-D395-56D3-DAFF1CF4D5E3}"/>
              </a:ext>
            </a:extLst>
          </p:cNvPr>
          <p:cNvSpPr/>
          <p:nvPr/>
        </p:nvSpPr>
        <p:spPr>
          <a:xfrm flipH="1">
            <a:off x="6235070" y="4106640"/>
            <a:ext cx="483860" cy="143003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6C2DC7B8-F80F-EABC-8AF4-C515E98C535D}"/>
              </a:ext>
            </a:extLst>
          </p:cNvPr>
          <p:cNvSpPr/>
          <p:nvPr/>
        </p:nvSpPr>
        <p:spPr>
          <a:xfrm flipH="1">
            <a:off x="6372230" y="3321077"/>
            <a:ext cx="483860" cy="143003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6A30A35C-7460-BF9C-9BC4-26C5CD54AC9D}"/>
              </a:ext>
            </a:extLst>
          </p:cNvPr>
          <p:cNvSpPr/>
          <p:nvPr/>
        </p:nvSpPr>
        <p:spPr>
          <a:xfrm flipH="1">
            <a:off x="6235070" y="4741549"/>
            <a:ext cx="483860" cy="143003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EA9336A-3EBC-0765-2D21-46E571FCACF5}"/>
              </a:ext>
            </a:extLst>
          </p:cNvPr>
          <p:cNvSpPr/>
          <p:nvPr/>
        </p:nvSpPr>
        <p:spPr>
          <a:xfrm flipH="1">
            <a:off x="6389386" y="1877642"/>
            <a:ext cx="483860" cy="143003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8779B410-76AE-CEF6-ACEB-A895F901484B}"/>
              </a:ext>
            </a:extLst>
          </p:cNvPr>
          <p:cNvSpPr/>
          <p:nvPr/>
        </p:nvSpPr>
        <p:spPr>
          <a:xfrm flipH="1">
            <a:off x="6387470" y="2651138"/>
            <a:ext cx="483860" cy="143003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F977D-43E1-3453-349B-0B37E37DCF17}"/>
              </a:ext>
            </a:extLst>
          </p:cNvPr>
          <p:cNvSpPr txBox="1"/>
          <p:nvPr/>
        </p:nvSpPr>
        <p:spPr>
          <a:xfrm>
            <a:off x="5101463" y="5681279"/>
            <a:ext cx="27510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Flowchart 2: Detection algorithm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9775256-8DE3-7BDF-3D2E-037ED517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69811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DC60-51D9-0E90-827C-DBF1327A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99DFDA62-9377-B655-7D4B-A29A077C7A1A}"/>
              </a:ext>
            </a:extLst>
          </p:cNvPr>
          <p:cNvSpPr>
            <a:spLocks/>
          </p:cNvSpPr>
          <p:nvPr/>
        </p:nvSpPr>
        <p:spPr>
          <a:xfrm>
            <a:off x="748676" y="688078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Implementation </a:t>
            </a:r>
            <a:r>
              <a:rPr lang="en-US" sz="3200" b="1" dirty="0" err="1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Contd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D64420-6648-935A-C650-CAD6D59F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69E95-5529-5C64-CAE4-F7BBFDB0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EC0494D-1E32-448B-4EA2-576D3F7BF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4" descr="Output image">
            <a:extLst>
              <a:ext uri="{FF2B5EF4-FFF2-40B4-BE49-F238E27FC236}">
                <a16:creationId xmlns:a16="http://schemas.microsoft.com/office/drawing/2014/main" id="{71882FEA-B5A6-B3B4-69B5-7DE1DB760C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4268D4-A7EF-C1ED-BE64-1F769D8046BF}"/>
              </a:ext>
            </a:extLst>
          </p:cNvPr>
          <p:cNvSpPr/>
          <p:nvPr/>
        </p:nvSpPr>
        <p:spPr>
          <a:xfrm>
            <a:off x="3108960" y="1400729"/>
            <a:ext cx="7010400" cy="46580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 sky pixels using the mask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C2431E-4AC6-BCC7-CAEF-444A5DD5ACEE}"/>
              </a:ext>
            </a:extLst>
          </p:cNvPr>
          <p:cNvSpPr/>
          <p:nvPr/>
        </p:nvSpPr>
        <p:spPr>
          <a:xfrm>
            <a:off x="3108960" y="2012819"/>
            <a:ext cx="7010400" cy="596353"/>
          </a:xfrm>
          <a:prstGeom prst="rect">
            <a:avLst/>
          </a:prstGeom>
          <a:solidFill>
            <a:srgbClr val="C7A1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color ratios (blue, white, gray, warm).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0F547-B2DF-D118-E64A-900241D7A235}"/>
              </a:ext>
            </a:extLst>
          </p:cNvPr>
          <p:cNvSpPr/>
          <p:nvPr/>
        </p:nvSpPr>
        <p:spPr>
          <a:xfrm>
            <a:off x="3124200" y="2777677"/>
            <a:ext cx="7010400" cy="53223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brightness &amp; saturation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11245-EE6D-9B6E-E972-9E3ADB415B43}"/>
              </a:ext>
            </a:extLst>
          </p:cNvPr>
          <p:cNvSpPr/>
          <p:nvPr/>
        </p:nvSpPr>
        <p:spPr>
          <a:xfrm>
            <a:off x="3108960" y="3521617"/>
            <a:ext cx="7025640" cy="9407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weighted scoring with penalties for contradictions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5C6C8C-7F96-9723-85D0-7A369FE74366}"/>
              </a:ext>
            </a:extLst>
          </p:cNvPr>
          <p:cNvSpPr/>
          <p:nvPr/>
        </p:nvSpPr>
        <p:spPr>
          <a:xfrm>
            <a:off x="3139440" y="4612717"/>
            <a:ext cx="7010400" cy="541669"/>
          </a:xfrm>
          <a:prstGeom prst="rect">
            <a:avLst/>
          </a:prstGeom>
          <a:solidFill>
            <a:srgbClr val="91E3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highest score with confidence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B94C665-8FA3-FA1F-67B5-AF2EB834B100}"/>
              </a:ext>
            </a:extLst>
          </p:cNvPr>
          <p:cNvSpPr/>
          <p:nvPr/>
        </p:nvSpPr>
        <p:spPr>
          <a:xfrm>
            <a:off x="6591300" y="3340802"/>
            <a:ext cx="53340" cy="45719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AFFDF028-21DD-7547-6391-316708059EBF}"/>
              </a:ext>
            </a:extLst>
          </p:cNvPr>
          <p:cNvSpPr/>
          <p:nvPr/>
        </p:nvSpPr>
        <p:spPr>
          <a:xfrm flipH="1">
            <a:off x="6349370" y="4462335"/>
            <a:ext cx="483860" cy="143003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DEE6C56-0B75-BD64-2EF4-3C750F1F5681}"/>
              </a:ext>
            </a:extLst>
          </p:cNvPr>
          <p:cNvSpPr/>
          <p:nvPr/>
        </p:nvSpPr>
        <p:spPr>
          <a:xfrm flipH="1">
            <a:off x="6372230" y="3321077"/>
            <a:ext cx="483860" cy="143003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A6426E78-49E0-0731-BEF9-9A984F599BAD}"/>
              </a:ext>
            </a:extLst>
          </p:cNvPr>
          <p:cNvSpPr/>
          <p:nvPr/>
        </p:nvSpPr>
        <p:spPr>
          <a:xfrm flipH="1">
            <a:off x="6389386" y="1877642"/>
            <a:ext cx="483860" cy="143003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A668750-37A5-621C-C5FF-CB16DEDFD8A9}"/>
              </a:ext>
            </a:extLst>
          </p:cNvPr>
          <p:cNvSpPr/>
          <p:nvPr/>
        </p:nvSpPr>
        <p:spPr>
          <a:xfrm flipH="1">
            <a:off x="6387470" y="2651138"/>
            <a:ext cx="483860" cy="143003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D3CBC-AD9C-2E19-F442-B0869139612B}"/>
              </a:ext>
            </a:extLst>
          </p:cNvPr>
          <p:cNvSpPr txBox="1"/>
          <p:nvPr/>
        </p:nvSpPr>
        <p:spPr>
          <a:xfrm>
            <a:off x="5269103" y="5457271"/>
            <a:ext cx="3050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Flowchart 3: Classification algorithm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67F09C5-5E98-CDC3-F0D6-5E9DE518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26274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BCBAB-499C-2EF4-EE98-36735ECB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34E1C-AA01-1B77-213A-901B762DD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59C53-86E7-E8E4-0C41-FEFA5FD5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8680D-DF97-E0E8-5625-39DEDC08412F}"/>
              </a:ext>
            </a:extLst>
          </p:cNvPr>
          <p:cNvSpPr txBox="1"/>
          <p:nvPr/>
        </p:nvSpPr>
        <p:spPr>
          <a:xfrm>
            <a:off x="4586050" y="6297086"/>
            <a:ext cx="362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Stages of Shadow Removal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A424A6-31C6-ED13-037C-843D0F4FD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12" y="1361112"/>
            <a:ext cx="10468775" cy="493597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CAD02DF-0476-93D8-DF5B-E20FA693D5C1}"/>
              </a:ext>
            </a:extLst>
          </p:cNvPr>
          <p:cNvSpPr>
            <a:spLocks/>
          </p:cNvSpPr>
          <p:nvPr/>
        </p:nvSpPr>
        <p:spPr>
          <a:xfrm>
            <a:off x="748676" y="688078"/>
            <a:ext cx="3742301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eprocessing: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06354B2-E30B-A9E7-2604-4722B53D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06424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C2CD-DBF0-ABFF-3CFF-F48020F46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B5D42B-AB22-9BEC-38F2-C1C02E145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25D87-60FB-B807-CE7F-28CEE09E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7D01D8-8B49-DDD9-7371-8A26A5D90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526" y="1676962"/>
            <a:ext cx="9126224" cy="35723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5FADF0-1064-561F-D720-7B99D5DF5F76}"/>
              </a:ext>
            </a:extLst>
          </p:cNvPr>
          <p:cNvSpPr txBox="1"/>
          <p:nvPr/>
        </p:nvSpPr>
        <p:spPr>
          <a:xfrm>
            <a:off x="3380040" y="5467293"/>
            <a:ext cx="6058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Original image and condition after contrast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streching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BFFAC1C-3E63-544E-D43A-F50EB2466185}"/>
              </a:ext>
            </a:extLst>
          </p:cNvPr>
          <p:cNvSpPr>
            <a:spLocks/>
          </p:cNvSpPr>
          <p:nvPr/>
        </p:nvSpPr>
        <p:spPr>
          <a:xfrm>
            <a:off x="841273" y="793584"/>
            <a:ext cx="5837319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eprocessing </a:t>
            </a:r>
            <a:r>
              <a:rPr lang="en-US" sz="3200" b="1" dirty="0" err="1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contd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1EDE679-472A-74BF-14CB-9B205D8E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5208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6AAFD-314B-D5FB-E71A-DDFB7F113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DF72A-A49D-5FFA-D62C-82CFF937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9735F-BAA6-0B04-4688-326D3E71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C80BB8A-668E-0833-4C89-09C5B486E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1689905"/>
            <a:ext cx="3532446" cy="31151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1B2DC1-2623-B950-6068-A2492BE0D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375" y="1689905"/>
            <a:ext cx="3532447" cy="31151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F51573E-BD0D-0C9B-E7BA-A92CD42CA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559" y="1689905"/>
            <a:ext cx="3865162" cy="311512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D3EA799-2CE9-ACCC-9EF6-3E33285D9DCA}"/>
              </a:ext>
            </a:extLst>
          </p:cNvPr>
          <p:cNvSpPr txBox="1"/>
          <p:nvPr/>
        </p:nvSpPr>
        <p:spPr>
          <a:xfrm>
            <a:off x="4052108" y="5245141"/>
            <a:ext cx="470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4:RGB channels before contrast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streching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8CE49664-E71D-9299-46C2-4E0F14DA8519}"/>
              </a:ext>
            </a:extLst>
          </p:cNvPr>
          <p:cNvSpPr>
            <a:spLocks/>
          </p:cNvSpPr>
          <p:nvPr/>
        </p:nvSpPr>
        <p:spPr>
          <a:xfrm>
            <a:off x="841273" y="793584"/>
            <a:ext cx="5837319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eprocessing </a:t>
            </a:r>
            <a:r>
              <a:rPr lang="en-US" sz="3200" b="1" dirty="0" err="1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contd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13DF10-FC0F-6CD8-D1E6-D5237418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08904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7CD4E-1573-BB22-623E-FE016100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F855A4-1E52-7306-1B81-87E6BD51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1E614-0801-EB00-75F3-53DC15C2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B6AE3BA-C32F-D24E-455F-43A93E472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11" y="1620456"/>
            <a:ext cx="3440893" cy="330894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CDD8E09-48F5-86E3-E72D-7D2BEF664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207" y="1620456"/>
            <a:ext cx="3440893" cy="330894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E9874E7-9443-2AA2-A455-D83358413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951" y="1620456"/>
            <a:ext cx="3798971" cy="32708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58893A-FE9A-DEAF-1F62-1231C1480F05}"/>
              </a:ext>
            </a:extLst>
          </p:cNvPr>
          <p:cNvSpPr txBox="1"/>
          <p:nvPr/>
        </p:nvSpPr>
        <p:spPr>
          <a:xfrm>
            <a:off x="4052108" y="5245141"/>
            <a:ext cx="4538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5:RGB channels after contrast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streching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B5EEC0D-475B-905A-0D10-1F742571FF3C}"/>
              </a:ext>
            </a:extLst>
          </p:cNvPr>
          <p:cNvSpPr>
            <a:spLocks/>
          </p:cNvSpPr>
          <p:nvPr/>
        </p:nvSpPr>
        <p:spPr>
          <a:xfrm>
            <a:off x="841273" y="793584"/>
            <a:ext cx="5837319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eprocessing </a:t>
            </a:r>
            <a:r>
              <a:rPr lang="en-US" sz="3200" b="1" dirty="0" err="1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contd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7DB77A5-C2EC-698B-AA34-AF424732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52748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FB54D-ED3F-0AC0-FC1A-923033F13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46618-E3E0-A5A3-BA1B-2517C2896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FC6B6E-61B5-04FD-7A53-0D5166C1B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66F35-1B8B-F816-2536-CCA5369054D3}"/>
              </a:ext>
            </a:extLst>
          </p:cNvPr>
          <p:cNvSpPr txBox="1"/>
          <p:nvPr/>
        </p:nvSpPr>
        <p:spPr>
          <a:xfrm>
            <a:off x="4015315" y="5262835"/>
            <a:ext cx="4121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HSV mask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white,gray,orange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0579F9B-E37D-D5D4-588F-A25C808DE68E}"/>
              </a:ext>
            </a:extLst>
          </p:cNvPr>
          <p:cNvSpPr>
            <a:spLocks/>
          </p:cNvSpPr>
          <p:nvPr/>
        </p:nvSpPr>
        <p:spPr>
          <a:xfrm>
            <a:off x="841273" y="793584"/>
            <a:ext cx="5837319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HSV</a:t>
            </a: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Mask (Segmentation)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9AF42C7-790B-BD5F-099A-4F6C78F0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D0E15C-988C-5B9E-7974-CA7B9AEEF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43" y="1732655"/>
            <a:ext cx="10652567" cy="310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1108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A24F-BD74-8963-6B00-AA6F749D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4818A-34B2-B2AB-E4C5-3164D7EB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44847-2BC9-483D-5D09-584B02E4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6130D-DBEA-E48E-A854-2D3EFDAADE6F}"/>
              </a:ext>
            </a:extLst>
          </p:cNvPr>
          <p:cNvSpPr txBox="1"/>
          <p:nvPr/>
        </p:nvSpPr>
        <p:spPr>
          <a:xfrm>
            <a:off x="3495554" y="5216803"/>
            <a:ext cx="5089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 HSV mask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forblue,pink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purple,yellow,cyan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1DAD974-C567-F621-8E87-9ED36153967C}"/>
              </a:ext>
            </a:extLst>
          </p:cNvPr>
          <p:cNvSpPr>
            <a:spLocks/>
          </p:cNvSpPr>
          <p:nvPr/>
        </p:nvSpPr>
        <p:spPr>
          <a:xfrm>
            <a:off x="841273" y="793584"/>
            <a:ext cx="5837319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HSV</a:t>
            </a: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Mask </a:t>
            </a:r>
            <a:r>
              <a:rPr lang="en-US" sz="3200" b="1" i="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Contd</a:t>
            </a: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F54F366-8B78-1552-54D5-EFC917BD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190ABE-9DEB-2659-03DA-B0886670E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554" y="1641197"/>
            <a:ext cx="8534400" cy="3071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3A0D76-D047-D85D-F201-310028AD9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0" y="1641197"/>
            <a:ext cx="2914364" cy="307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90060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494D2-719B-743D-233C-E2BAD98E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67B09BAD-8A11-D744-E694-D74783FC8D52}"/>
              </a:ext>
            </a:extLst>
          </p:cNvPr>
          <p:cNvSpPr>
            <a:spLocks/>
          </p:cNvSpPr>
          <p:nvPr/>
        </p:nvSpPr>
        <p:spPr>
          <a:xfrm>
            <a:off x="748676" y="688078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Results and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96D80-F9DC-C7A7-F8F9-484064A0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335EC-65DF-8462-181C-158C5EA7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27194D-1E06-BA07-D944-C16508619933}"/>
              </a:ext>
            </a:extLst>
          </p:cNvPr>
          <p:cNvSpPr txBox="1"/>
          <p:nvPr/>
        </p:nvSpPr>
        <p:spPr>
          <a:xfrm>
            <a:off x="4942479" y="5875285"/>
            <a:ext cx="230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Result Graph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85E264-9830-5F39-F66C-58249F436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936" y="1413247"/>
            <a:ext cx="8647691" cy="4572009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4578595-1469-7857-E684-2D5D7A9F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08853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2D2E-32E2-2AA3-C0A6-8A76C095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F19E7F-A52C-2F27-AA34-FEE3D8DE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9A929-ABAD-BDE8-CA31-69E3CDA5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DD0D1-754E-8402-628F-CAFEBD36E099}"/>
              </a:ext>
            </a:extLst>
          </p:cNvPr>
          <p:cNvSpPr txBox="1"/>
          <p:nvPr/>
        </p:nvSpPr>
        <p:spPr>
          <a:xfrm>
            <a:off x="3730452" y="5279507"/>
            <a:ext cx="4551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8: Input and Output image for clear sky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79A29-74B0-0316-1737-AACFE12B2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45" y="1518462"/>
            <a:ext cx="4710103" cy="33313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B323B5-BF2D-85E1-5B6B-AB8B1EC26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504" y="1542435"/>
            <a:ext cx="4946493" cy="333132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9FCCA8C7-B58B-D968-6C61-65E1245166F8}"/>
              </a:ext>
            </a:extLst>
          </p:cNvPr>
          <p:cNvSpPr>
            <a:spLocks/>
          </p:cNvSpPr>
          <p:nvPr/>
        </p:nvSpPr>
        <p:spPr>
          <a:xfrm>
            <a:off x="581192" y="688445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Results Contd..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8A8D479-0607-0F98-9A09-3DE3B957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43668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4ECBC-A44A-CB38-83C5-4D01A2F9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97C8B9-0057-E57B-C96E-BD754FAE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39154"/>
            <a:ext cx="2844799" cy="365125"/>
          </a:xfrm>
        </p:spPr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3FBD8-83B8-2ABB-31D3-F499849ED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F1C3A9-8EEE-A508-711C-A3E75311B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485" y="1623863"/>
            <a:ext cx="4212720" cy="31333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452D9B-D904-2122-7525-A3EF4D3D6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289" y="1623863"/>
            <a:ext cx="4617042" cy="3133332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5F56BA5-D355-CFB3-3B62-0F47D2164DC6}"/>
              </a:ext>
            </a:extLst>
          </p:cNvPr>
          <p:cNvSpPr>
            <a:spLocks/>
          </p:cNvSpPr>
          <p:nvPr/>
        </p:nvSpPr>
        <p:spPr>
          <a:xfrm>
            <a:off x="581192" y="688445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Results Contd..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15A20-C622-79DF-FCCB-515BDA5CB0E8}"/>
              </a:ext>
            </a:extLst>
          </p:cNvPr>
          <p:cNvSpPr txBox="1"/>
          <p:nvPr/>
        </p:nvSpPr>
        <p:spPr>
          <a:xfrm>
            <a:off x="3730452" y="5279507"/>
            <a:ext cx="4730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9: Input and Output image for cloudy sky 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C2DF071-2BF5-5156-CD76-9A4BA98FE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13660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E692-F6D3-1EBF-B9EF-C87680167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092A9-7B89-C2CA-2EA7-03EFCB91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B08BA-C710-8079-7119-E27A7DCD7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465B7A-DC4E-6CE8-74BB-92B7D8B20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51" y="1518463"/>
            <a:ext cx="4296778" cy="32387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2E436C-A5FC-E744-ACBA-1ACD4A49D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619" y="1518463"/>
            <a:ext cx="4595604" cy="323873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74113D6A-E568-0753-28BF-4666193A6246}"/>
              </a:ext>
            </a:extLst>
          </p:cNvPr>
          <p:cNvSpPr>
            <a:spLocks/>
          </p:cNvSpPr>
          <p:nvPr/>
        </p:nvSpPr>
        <p:spPr>
          <a:xfrm>
            <a:off x="581192" y="688445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Results Contd..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08785-F80A-64FB-3AC0-4948AFBC6F18}"/>
              </a:ext>
            </a:extLst>
          </p:cNvPr>
          <p:cNvSpPr txBox="1"/>
          <p:nvPr/>
        </p:nvSpPr>
        <p:spPr>
          <a:xfrm>
            <a:off x="3730452" y="5279507"/>
            <a:ext cx="5442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10: Input and Output image for partly cloudy sky 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2E4386D-EA36-E45E-899A-46846869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3334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FA146-82C4-22B0-FA15-A7C938AF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86F90-4BDE-C4F4-C41F-C7FCE235A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F7B9E-7456-8392-797F-2F88CF19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5E39E1-CE01-E69D-38DE-999E4A4E5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41" y="1518463"/>
            <a:ext cx="4476750" cy="30080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A94F72-BB41-FC49-570D-3DEE58B44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764" y="1518463"/>
            <a:ext cx="4630986" cy="300805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8170EF8C-FD26-32F9-F0C2-02882FFF9278}"/>
              </a:ext>
            </a:extLst>
          </p:cNvPr>
          <p:cNvSpPr>
            <a:spLocks/>
          </p:cNvSpPr>
          <p:nvPr/>
        </p:nvSpPr>
        <p:spPr>
          <a:xfrm>
            <a:off x="581192" y="688445"/>
            <a:ext cx="10849766" cy="46580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Results Contd..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394E6B-B232-6691-8470-0AEE0048945C}"/>
              </a:ext>
            </a:extLst>
          </p:cNvPr>
          <p:cNvSpPr txBox="1"/>
          <p:nvPr/>
        </p:nvSpPr>
        <p:spPr>
          <a:xfrm>
            <a:off x="3730452" y="5279507"/>
            <a:ext cx="4794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11: Input and Output image for sunset sky 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231EF08-D2C0-288D-614A-A0730FB4F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95707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002C8-40B2-CCD8-8D52-F1D4D15D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D112B3-71DB-E304-435F-F0816EF0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C26E5-E2D3-3E95-C707-233A46A7A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57D77-1488-8784-A35B-ADBF3FFAE01A}"/>
              </a:ext>
            </a:extLst>
          </p:cNvPr>
          <p:cNvSpPr txBox="1"/>
          <p:nvPr/>
        </p:nvSpPr>
        <p:spPr>
          <a:xfrm>
            <a:off x="3729427" y="5325395"/>
            <a:ext cx="515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Comparison between different sky condition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004488-0FB2-2D53-C242-A8DE751A8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724464"/>
              </p:ext>
            </p:extLst>
          </p:nvPr>
        </p:nvGraphicFramePr>
        <p:xfrm>
          <a:off x="1418541" y="1794719"/>
          <a:ext cx="9299617" cy="3170821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315548">
                  <a:extLst>
                    <a:ext uri="{9D8B030D-6E8A-4147-A177-3AD203B41FA5}">
                      <a16:colId xmlns:a16="http://schemas.microsoft.com/office/drawing/2014/main" val="1467003861"/>
                    </a:ext>
                  </a:extLst>
                </a:gridCol>
                <a:gridCol w="2315548">
                  <a:extLst>
                    <a:ext uri="{9D8B030D-6E8A-4147-A177-3AD203B41FA5}">
                      <a16:colId xmlns:a16="http://schemas.microsoft.com/office/drawing/2014/main" val="2860554630"/>
                    </a:ext>
                  </a:extLst>
                </a:gridCol>
                <a:gridCol w="2315548">
                  <a:extLst>
                    <a:ext uri="{9D8B030D-6E8A-4147-A177-3AD203B41FA5}">
                      <a16:colId xmlns:a16="http://schemas.microsoft.com/office/drawing/2014/main" val="2890376897"/>
                    </a:ext>
                  </a:extLst>
                </a:gridCol>
                <a:gridCol w="2352973">
                  <a:extLst>
                    <a:ext uri="{9D8B030D-6E8A-4147-A177-3AD203B41FA5}">
                      <a16:colId xmlns:a16="http://schemas.microsoft.com/office/drawing/2014/main" val="1889059443"/>
                    </a:ext>
                  </a:extLst>
                </a:gridCol>
              </a:tblGrid>
              <a:tr h="972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Avg Confidence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Avg Processing Time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649053"/>
                  </a:ext>
                </a:extLst>
              </a:tr>
              <a:tr h="549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Clear Sky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41D0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89%</a:t>
                      </a:r>
                    </a:p>
                  </a:txBody>
                  <a:tcPr anchor="ctr">
                    <a:solidFill>
                      <a:srgbClr val="41D0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0.87</a:t>
                      </a:r>
                    </a:p>
                  </a:txBody>
                  <a:tcPr anchor="ctr">
                    <a:solidFill>
                      <a:srgbClr val="41D0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1.2s</a:t>
                      </a:r>
                    </a:p>
                  </a:txBody>
                  <a:tcPr anchor="ctr">
                    <a:solidFill>
                      <a:srgbClr val="41D0F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912408"/>
                  </a:ext>
                </a:extLst>
              </a:tr>
              <a:tr h="549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Cloudy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994945"/>
                  </a:ext>
                </a:extLst>
              </a:tr>
              <a:tr h="549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Partly Cloudy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41D0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anchor="ctr">
                    <a:solidFill>
                      <a:srgbClr val="41D0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</a:t>
                      </a:r>
                    </a:p>
                  </a:txBody>
                  <a:tcPr anchor="ctr">
                    <a:solidFill>
                      <a:srgbClr val="41D0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1.1s</a:t>
                      </a:r>
                    </a:p>
                  </a:txBody>
                  <a:tcPr anchor="ctr">
                    <a:solidFill>
                      <a:srgbClr val="41D0F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514232"/>
                  </a:ext>
                </a:extLst>
              </a:tr>
              <a:tr h="549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Sunset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676906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D1B87338-150B-C518-4CE6-CB512E873219}"/>
              </a:ext>
            </a:extLst>
          </p:cNvPr>
          <p:cNvSpPr>
            <a:spLocks/>
          </p:cNvSpPr>
          <p:nvPr/>
        </p:nvSpPr>
        <p:spPr>
          <a:xfrm>
            <a:off x="656436" y="968287"/>
            <a:ext cx="10849766" cy="465808"/>
          </a:xfrm>
          <a:prstGeom prst="rect">
            <a:avLst/>
          </a:prstGeom>
        </p:spPr>
        <p:txBody>
          <a:bodyPr/>
          <a:lstStyle/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Results Contd..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A416A72-85D1-861F-7E41-3A964126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4102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338DF-4301-CB3F-2D5A-50B43000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38050-0F69-D303-5694-2ADD0F86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F60A-B7F6-4EFE-9687-0E1AC6CF009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75E83-9D4B-F31C-EE68-C9AFCBDC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E9F6174-AEE3-C77F-8575-8F88EE31089B}"/>
              </a:ext>
            </a:extLst>
          </p:cNvPr>
          <p:cNvSpPr>
            <a:spLocks/>
          </p:cNvSpPr>
          <p:nvPr/>
        </p:nvSpPr>
        <p:spPr>
          <a:xfrm>
            <a:off x="15240" y="599193"/>
            <a:ext cx="10849766" cy="465808"/>
          </a:xfrm>
          <a:prstGeom prst="rect">
            <a:avLst/>
          </a:prstGeom>
        </p:spPr>
        <p:txBody>
          <a:bodyPr/>
          <a:lstStyle/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Complete Overview</a:t>
            </a:r>
          </a:p>
        </p:txBody>
      </p:sp>
      <p:pic>
        <p:nvPicPr>
          <p:cNvPr id="7" name="2025-11-05_07-08-18">
            <a:hlinkClick r:id="" action="ppaction://media"/>
            <a:extLst>
              <a:ext uri="{FF2B5EF4-FFF2-40B4-BE49-F238E27FC236}">
                <a16:creationId xmlns:a16="http://schemas.microsoft.com/office/drawing/2014/main" id="{52E3FB8C-267C-58E8-64D0-6410F60536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1192" y="950304"/>
            <a:ext cx="11029618" cy="4957392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EEBFF1-8F85-2B48-CB14-069322F1D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9585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8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7CE13-CF88-464F-4744-1721A6EB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0011CB06-D9E7-F6F3-4739-1CA79E30DA4C}"/>
              </a:ext>
            </a:extLst>
          </p:cNvPr>
          <p:cNvSpPr>
            <a:spLocks/>
          </p:cNvSpPr>
          <p:nvPr/>
        </p:nvSpPr>
        <p:spPr>
          <a:xfrm>
            <a:off x="941407" y="820100"/>
            <a:ext cx="3009417" cy="669908"/>
          </a:xfrm>
          <a:prstGeom prst="rect">
            <a:avLst/>
          </a:prstGeom>
        </p:spPr>
        <p:txBody>
          <a:bodyPr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Limitation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B6FC7-639D-CBA6-83EC-9CBBD880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CF11-6BE4-409F-AC1B-A657970C673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AAD74-1A9F-1A73-9C01-7AC86FFF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E2366-AC89-4E4C-9FE6-F10021989B28}"/>
              </a:ext>
            </a:extLst>
          </p:cNvPr>
          <p:cNvSpPr txBox="1"/>
          <p:nvPr/>
        </p:nvSpPr>
        <p:spPr>
          <a:xfrm>
            <a:off x="1319513" y="1490008"/>
            <a:ext cx="99310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1. Partly Cloudy Classification (76% accuracy)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lowest accuracy category because it's inherently ambiguous - no clear boundary between clear and cloudy, causing confusion in edge cases.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2. Fixed HSV Thresholds (Not Adaptive)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Hardcoded color ranges may not work optimally in different geographic locations, seasons, or times of day - limits generalization.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3. Slow for Real-Time Video (1.2 seconds/image)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Processes only ~0.8 fps, far below the 30 fps needed for real-time video applications like drone navigation or live weather monitoring.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9275547-E51D-6F62-3F31-FBC402E9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172181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1046F-6983-28C0-2C55-50208AE9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7616FFA0-C336-01BD-5DF1-FCD6329B3CA5}"/>
              </a:ext>
            </a:extLst>
          </p:cNvPr>
          <p:cNvSpPr>
            <a:spLocks/>
          </p:cNvSpPr>
          <p:nvPr/>
        </p:nvSpPr>
        <p:spPr>
          <a:xfrm>
            <a:off x="717627" y="720742"/>
            <a:ext cx="2803869" cy="669908"/>
          </a:xfrm>
          <a:prstGeom prst="rect">
            <a:avLst/>
          </a:prstGeom>
        </p:spPr>
        <p:txBody>
          <a:bodyPr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7B90C-66FF-3F4E-D81C-B8E9FDC1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CF11-6BE4-409F-AC1B-A657970C673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F04FE-47E4-37BB-346B-9731BA45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25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6B4930A-8349-31EE-EDDE-09A0E2B8C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057" y="1596479"/>
            <a:ext cx="946269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</a:rPr>
              <a:t>Uses HSV color space and multi-range color masking for accurate sky segmentation.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masks by removing noise and refining regions.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Weighted feature extraction improves classification accuracy, especially for ambiguous conditions like partly cloudy.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affected by lighting, background complexity, and fog. Partly cloudy classification remains difficult.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70D1141-256E-8615-2BC8-7B6273D4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2613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EBFB5-22E2-DE35-F098-E4B116D7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604A4AFE-1B13-EDB9-3DAE-2F12A989A08D}"/>
              </a:ext>
            </a:extLst>
          </p:cNvPr>
          <p:cNvSpPr>
            <a:spLocks/>
          </p:cNvSpPr>
          <p:nvPr/>
        </p:nvSpPr>
        <p:spPr>
          <a:xfrm>
            <a:off x="941407" y="820100"/>
            <a:ext cx="3009417" cy="669908"/>
          </a:xfrm>
          <a:prstGeom prst="rect">
            <a:avLst/>
          </a:prstGeom>
        </p:spPr>
        <p:txBody>
          <a:bodyPr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CB8AE-86BE-19BE-826D-3A97099E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CF11-6BE4-409F-AC1B-A657970C673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620A9-0CB9-69CD-4B99-684F68C2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F9F51-63F7-D759-0DA4-9FC15CB14460}"/>
              </a:ext>
            </a:extLst>
          </p:cNvPr>
          <p:cNvSpPr txBox="1"/>
          <p:nvPr/>
        </p:nvSpPr>
        <p:spPr>
          <a:xfrm>
            <a:off x="1319513" y="1490008"/>
            <a:ext cx="993108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Detects sky conditions with minimal user input.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Ensures precise results with robust algorithms.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Easy, step-by-step interface for all users.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Effective for Meteorological Analysis which provides detailed insights for weather monitoring and forecasting.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0EA485B-41F3-CB2D-4FF2-D67056E7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243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CE91-1D40-FAAE-FC85-D99F7FF0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1DA78655-1103-206C-5ED4-5952A008B1E8}"/>
              </a:ext>
            </a:extLst>
          </p:cNvPr>
          <p:cNvSpPr>
            <a:spLocks/>
          </p:cNvSpPr>
          <p:nvPr/>
        </p:nvSpPr>
        <p:spPr>
          <a:xfrm>
            <a:off x="834033" y="761909"/>
            <a:ext cx="11208773" cy="458231"/>
          </a:xfrm>
          <a:prstGeom prst="rect">
            <a:avLst/>
          </a:prstGeo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70C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endParaRPr lang="en-US" sz="3200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5ED737-E9F2-454B-376E-C52A4E78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AF972-6A7D-422C-BCAA-BE1DBD5B63C3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CB5E5-86E7-E483-66FD-BDB634C7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8CE78E4-6008-0DFC-998A-FE638FB38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066" y="2055774"/>
            <a:ext cx="10336887" cy="3532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Adaptive Thresholding: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Implement dynamic threshold adjustments based on image statistics.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Integrate ML for improved handling of ambiguous conditions like partly cloudy.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Video Processing: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Extend system to handle real-time video for continuous sky condition monitoring.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Mobile Deployment: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Optimize for mobile platforms for on-the-go sky condition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F3A2492-0EC6-E2F9-61BF-3EA32F8D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446885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4C27-86F7-4535-7861-09D6A102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1D716-0B46-5D19-8062-A88150DE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6F14-ED71-4F44-BAAD-EBB83E2A2199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5737C-B780-6FD6-5AC2-164D27D0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E3EF0-6958-32EE-DEB9-E3006E310DB0}"/>
              </a:ext>
            </a:extLst>
          </p:cNvPr>
          <p:cNvSpPr txBox="1"/>
          <p:nvPr/>
        </p:nvSpPr>
        <p:spPr>
          <a:xfrm>
            <a:off x="599535" y="2282514"/>
            <a:ext cx="10690332" cy="1857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3"/>
              </a:lnSpc>
            </a:pPr>
            <a:r>
              <a:rPr lang="en-US" sz="8000" b="1" dirty="0">
                <a:solidFill>
                  <a:srgbClr val="0070C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7FC03D9-603E-947B-46BE-D2A1DA82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4128: Image Processing and Computer Vision Laboratory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69282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00B2AC-C335-4100-B8B3-2D9F49A72906}">
  <ds:schemaRefs>
    <ds:schemaRef ds:uri="71af3243-3dd4-4a8d-8c0d-dd76da1f02a5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230e9df3-be65-4c73-a93b-d1236ebd677e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schemas.microsoft.com/sharepoint/v3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{0A4ECE73-36BB-43A9-8E18-AE608BBCD9BF}tf45205285_win32</Template>
  <TotalTime>2636</TotalTime>
  <Words>1250</Words>
  <Application>Microsoft Office PowerPoint</Application>
  <PresentationFormat>Widescreen</PresentationFormat>
  <Paragraphs>268</Paragraphs>
  <Slides>28</Slides>
  <Notes>28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Gill Sans MT</vt:lpstr>
      <vt:lpstr>Red Hat Display Bold</vt:lpstr>
      <vt:lpstr>Times New Roman</vt:lpstr>
      <vt:lpstr>Wingdings</vt:lpstr>
      <vt:lpstr>Wingdings 2</vt:lpstr>
      <vt:lpstr>DividendVTI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Prova</dc:creator>
  <cp:lastModifiedBy>Prova Paul</cp:lastModifiedBy>
  <cp:revision>47</cp:revision>
  <dcterms:created xsi:type="dcterms:W3CDTF">2024-05-22T06:19:53Z</dcterms:created>
  <dcterms:modified xsi:type="dcterms:W3CDTF">2025-11-05T05:21:54Z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